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14300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3100" b="1" i="0">
                <a:solidFill>
                  <a:srgbClr val="000000"/>
                </a:solidFill>
                <a:latin typeface="Arial"/>
              </a:rPr>
              <a:t>2-DOF PLANAR ROBOTIC REACHING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100" b="1" i="0">
                <a:solidFill>
                  <a:srgbClr val="5A5A5A"/>
                </a:solidFill>
                <a:latin typeface="Arial"/>
              </a:rPr>
              <a:t>PROJECT REVIEW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14600"/>
            <a:ext cx="9966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PPO • Human Reward • Eureka Reward Discovery • RAPP • Shifted Domain Randomization • PINN Physics Observer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3657600"/>
            <a:ext cx="4069080" cy="274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Task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08192" y="3931920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069080" y="4041648"/>
            <a:ext cx="4069080" cy="274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Reward search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08192" y="4315968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4425696"/>
            <a:ext cx="4069080" cy="274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PPO policy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4700016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4809744"/>
            <a:ext cx="4069080" cy="274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Physics variation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8192" y="5084064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69080" y="5193792"/>
            <a:ext cx="4069080" cy="274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PINN observer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08192" y="546811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69080" y="5577840"/>
            <a:ext cx="4069080" cy="274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Future adaptive DR / Sim-to-Real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1EEFC2-119F-6DBA-B58C-E029C571DE66}"/>
              </a:ext>
            </a:extLst>
          </p:cNvPr>
          <p:cNvSpPr txBox="1"/>
          <p:nvPr/>
        </p:nvSpPr>
        <p:spPr>
          <a:xfrm>
            <a:off x="2658992" y="6188249"/>
            <a:ext cx="6934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23BRS1309 Amartya Ranjan, 23BRS1356 Aditya Kumar Singh, 23BRS1171 Rajarshi Somvanshi</a:t>
            </a:r>
          </a:p>
          <a:p>
            <a:pPr algn="ctr"/>
            <a:r>
              <a:rPr lang="en-US" sz="1400" dirty="0"/>
              <a:t>Guide: Dr. Saranya M</a:t>
            </a:r>
            <a:endParaRPr lang="en-IN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1. Research question and experimental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The controlled variable is the reward objective, not PPO.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828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Natural-language task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1572768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63240" y="1325880"/>
            <a:ext cx="1828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Eureka / LLM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92040" y="1572768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0" y="1325880"/>
            <a:ext cx="1828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Candidate reward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1572768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09560" y="1325880"/>
            <a:ext cx="1828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Isaac Lab + PPO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38360" y="1572768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332720" y="1325880"/>
            <a:ext cx="11887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2194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Human reward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697480"/>
            <a:ext cx="21945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Dense distance shaping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29000"/>
            <a:ext cx="21945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5 cm success bonus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21945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Action regularization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331720"/>
            <a:ext cx="2194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Eureka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2697480"/>
            <a:ext cx="21945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Exponential proximity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429000"/>
            <a:ext cx="21945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+100 success bonus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4160520"/>
            <a:ext cx="21945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Velocity + time penalties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43200"/>
            <a:ext cx="466344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Arial"/>
              </a:rPr>
              <a:t>Same robot • same observations • same action interface • same evaluation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069080"/>
            <a:ext cx="466344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Arial"/>
              </a:rPr>
              <a:t>Interpretation: Eureka is an outer reward-engineering loop around PPO, not a replacement for PPO.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2. Platform and task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Deliberately simplified 2-link planar reaching benchmark.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371600" y="3337560"/>
            <a:ext cx="1737360" cy="1508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108960" y="3337560"/>
            <a:ext cx="1828800" cy="68580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261872" y="47365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999232" y="322783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828032" y="3913632"/>
            <a:ext cx="219456" cy="219456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309360" y="2011680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5047488" y="2212848"/>
            <a:ext cx="1261872" cy="1810512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5257800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2 × 0.5 m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074920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m₁ = 1.0 kg</a:t>
            </a:r>
            <a:br/>
            <a:r>
              <a:t>m₂ = 0.5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43400"/>
            <a:ext cx="1280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End-effector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468880"/>
            <a:ext cx="201168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random target</a:t>
            </a:r>
            <a:br/>
            <a:r>
              <a:t>r ∈ [0.20, 0.85]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417320"/>
            <a:ext cx="3657600" cy="3383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Two revolute joints about world Z; motion in XY.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Torque control: τ = 20 a, a ∈ [−1,1]²; ±5 rad/s velocity limit.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10 s episodes; 120 Hz physics, 30 Hz policy control.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4,096 parallel environments; target resampled every reset.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3. Mathematical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Eight mathematical objects connect the policy, physics, RAPP and PINN.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188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Times New Roman"/>
              </a:rPr>
              <a:t>sₜ = [q₁,q₂,q̇₁,q̇₂,xₜ,yₜ,xₜ−xₑₑ,yₜ−yₑₑ] ∈ ℝ⁸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188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Actuation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572000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aₜ ∈ [−1,1]²,</a:t>
            </a:r>
            <a:br/>
            <a:r>
              <a:t>τ_cmd = 20aₜ,</a:t>
            </a:r>
            <a:br/>
            <a:r>
              <a:t>τ_applied = 20(α ⊙ aₜ)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1188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394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Times New Roman"/>
              </a:rPr>
              <a:t>M(q;ξ)q̈ + C(q,q̇;ξ) + F(q̇;ξ) = α ⊙ τ_cmd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Physics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Times New Roman"/>
              </a:rPr>
              <a:t>ξ = [m₁,m₂,f₁,f₂,b₁,b₂,α₁,α₂] ∈ ℝ⁸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1188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RAPP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66344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S(π,ξ) = P(d_T &lt; 0.05 | π,ξ)</a:t>
            </a:r>
            <a:br/>
            <a:r>
              <a:t>C_RAPP = ∏ᵢ [lᵢ,hᵢ],  α = 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8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PINN observer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4846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Times New Roman"/>
              </a:rPr>
              <a:t>fφ : {(q,q̇,τ,q̈)}ₜ₋₆₃:ₜ → (ξ̂,Σ̂)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14630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Current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83480"/>
            <a:ext cx="4846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Adaptive DR update is deliberately NOT implemented yet.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4. Simulation → policy → physics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Low-level torque control is explicit; PhysX performs the numerical integration.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57276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Observation sₜ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75688" y="2112264"/>
            <a:ext cx="365760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41448" y="1828800"/>
            <a:ext cx="157276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PPO policy πθ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14215" y="2112264"/>
            <a:ext cx="365761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79976" y="1828800"/>
            <a:ext cx="157276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Normalized action aₜ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52744" y="2112264"/>
            <a:ext cx="365760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18504" y="1828800"/>
            <a:ext cx="157276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Torque 20·α⊙aₜ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91272" y="2112264"/>
            <a:ext cx="365760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57032" y="1828800"/>
            <a:ext cx="157276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PhysX dynamics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29800" y="2112264"/>
            <a:ext cx="365760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95560" y="1828800"/>
            <a:ext cx="157276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qₜ₊₁ → sₜ₊₁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Control 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228600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Δt_phys = 1/120 s</a:t>
            </a:r>
            <a:br/>
            <a:r>
              <a:t>control decimation = 4</a:t>
            </a:r>
            <a:br/>
            <a:r>
              <a:t>policy rate = 30 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06324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Rollout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429000"/>
            <a:ext cx="301752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4,096 envs × 24 collected steps</a:t>
            </a:r>
            <a:br/>
            <a:r>
              <a:t>= 98,304 transitions / PPO rollout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63240"/>
            <a:ext cx="1097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Episode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429000"/>
            <a:ext cx="219456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10 s</a:t>
            </a:r>
            <a:br/>
            <a:r>
              <a:t>≈ 300 policy decisions</a:t>
            </a:r>
            <a:br/>
            <a:r>
              <a:t>≈ 1,200 physics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06324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Observation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429000"/>
            <a:ext cx="246888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Absolute target + Cartesian error + joint state.</a:t>
            </a:r>
            <a:br/>
            <a:r>
              <a:t>Joint angles wrapped to [−π,π] for observations.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5. PPO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The policy optimizer remains fixed across reward variants.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Backbone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234440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8 → 256 → 128 → 64, ELU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39112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Gaussian over 2 normalized torque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43784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Critic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843784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V(s)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48456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Learning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648456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1×10⁻³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53128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γ / GAE 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4453128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0.99 / 0.95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23444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Clip 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234440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39112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Entropy / value coeff.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039112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0.005 /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43784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KL target / grad norm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843784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0.01 /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48456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Epochs / minibatches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648456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8 /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453128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Initial action 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453128"/>
            <a:ext cx="3337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Scientific control: changing the reward changes PPO's optimization target while the optimizer and environment remain otherwise fixed.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6. Reward engineering: human vs Eureka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The discovered objective changes the incentive landscape.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16636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"/>
              </a:rPr>
              <a:t>Human-designed reward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5262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Times New Roman"/>
              </a:rPr>
              <a:t>R_vanilla = −d + 5·1[d&lt;0.05] − 0.005||a||²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Dense Cartesian distance shaping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5 cm success bonus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Quadratic normalized-action penalty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Keeps improving after entering the 5 cm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16636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508760"/>
            <a:ext cx="4572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"/>
              </a:rPr>
              <a:t>Eureka-generated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938528"/>
            <a:ext cx="45720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Times New Roman"/>
              </a:rPr>
              <a:t>R_Eureka = e^(−10d) + 100·1[d&lt;0.05]</a:t>
            </a:r>
            <a:br/>
            <a:r>
              <a:t>                 − 0.01||q̇||² − 0.1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457200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Nonlinear proximity term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Success bonus is 20× larger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Physical joint-velocity penalty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Explicit per-step time penalty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715000"/>
            <a:ext cx="10058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Key mechanism: once d &lt; 5 cm, +100 dominates the ~0–1 exponential proximity term.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7. Head-to-head policy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Latest exact evaluation files; same 4,096-env evaluation protocol.</a:t>
            </a:r>
          </a:p>
        </p:txBody>
      </p:sp>
      <p:pic>
        <p:nvPicPr>
          <p:cNvPr id="4" name="Picture 3" descr="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720840" cy="350892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79" y="1325880"/>
          <a:ext cx="4160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Vanilla 5000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Eureka 500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Eureka 1500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&lt;5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96.97%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99.05%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&lt;2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&lt;1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101.9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46.4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38.6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1.53 rad/s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3.40 rad/s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2.52 rad/s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Control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5596128"/>
            <a:ext cx="402336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The coarse 5 cm metric can look strong while finer thresholds remain low.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8. Why Eureka plateaus at coarse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The failure is primarily an objective-design issue, not simply insufficient PPO iterations.</a:t>
            </a:r>
          </a:p>
        </p:txBody>
      </p:sp>
      <p:pic>
        <p:nvPicPr>
          <p:cNvPr id="4" name="Picture 3" descr="reward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537960" cy="3185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71600"/>
            <a:ext cx="4023360" cy="4297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At 4.9 cm, 1 cm and 1 mm, the same +100 success bonus is received.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The exponential term changes only from ~0 to 1, tiny relative to +100.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Time penalty creates urgency to cross the threshold rather than settle precisely.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1,500-iteration rerun did not remove the coarse objective: success stayed concentrated around the 5 cm criterion.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The human reward's −d term continues to economically reward smaller final 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Documented implication: refine the task/reward specification before assuming longer PPO training will fix precision.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9. IK + PD reference exposed an environment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A scripted controller demonstrates that millimetre precision is physically reachable when the joint-limit trap is removed.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Closed-form 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12064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cos q₂ = (r² − l₁² − l₂²)/(2l₁l₂)</a:t>
            </a:r>
            <a:br/>
            <a:r>
              <a:t>q₁ = atan2(y,x) − atan2(l₂ sin q₂, l₁+l₂ cos q₂)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4630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PD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402336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Times New Roman"/>
              </a:rPr>
              <a:t>τ = Kp(q* − q) − Kd q̇</a:t>
            </a:r>
            <a:br/>
            <a:r>
              <a:t>Kp = 12, Kd = 1.2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48920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±π limits → wrap-around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514600"/>
            <a:ext cx="43891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rial"/>
              </a:rPr>
              <a:t>31.4% failures with ±π limits;</a:t>
            </a:r>
            <a:br/>
            <a:r>
              <a:t>all such failures ended at a limit.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29000"/>
            <a:ext cx="48920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Widened limits → 100% success &lt; 1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617720"/>
            <a:ext cx="43891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Arial"/>
              </a:rPr>
              <a:t>2048 episodes • mean terminal error ≈ 2.31 μm</a:t>
            </a:r>
            <a:br/>
            <a:r>
              <a:t>mean settling time ≈ 0.77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A5A5A"/>
                </a:solidFill>
                <a:latin typeface="Arial"/>
              </a:rPr>
              <a:t>This is a diagnostic/reference controller, not a learned-policy comparison.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10. Domain randomization: what was actually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Per-environment physics variation is sampled once at reset.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3317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m₁, m₂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3317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f₁, f₂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37560"/>
            <a:ext cx="23317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b₁, b₂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43400"/>
            <a:ext cx="23317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α₁, α₂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1645920"/>
            <a:ext cx="777239" cy="12801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71800" y="2651760"/>
            <a:ext cx="777239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971800" y="2926080"/>
            <a:ext cx="777239" cy="7315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971800" y="2926080"/>
            <a:ext cx="777239" cy="17373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49039" y="2514600"/>
            <a:ext cx="2103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ξ sampled per env</a:t>
            </a:r>
            <a:br/>
            <a:r>
              <a:t>at reset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2926080"/>
            <a:ext cx="731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0" y="2514600"/>
            <a:ext cx="20574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PhysX dynamics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1080" y="2926080"/>
            <a:ext cx="731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72600" y="2514600"/>
            <a:ext cx="20574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Policy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Stage-2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440680"/>
            <a:ext cx="8869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rial"/>
              </a:rPr>
              <a:t>DR was used for evaluation-time robustness tests. PPO training itself remained nominal (domain_rand.enabled=False). Training-time DR is future work.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11. RAPP: measured feasible physics envelope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Fixed Eureka@500 policy; α = 0.9 feasibility criterion; 1 parameter swept at a time.</a:t>
            </a:r>
          </a:p>
        </p:txBody>
      </p:sp>
      <p:pic>
        <p:nvPicPr>
          <p:cNvPr id="4" name="Picture 3" descr="r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315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371600"/>
            <a:ext cx="2286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Measured C_RAPP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874519"/>
            <a:ext cx="3017520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Times New Roman"/>
              </a:rPr>
              <a:t>friction: [0, 4]</a:t>
            </a:r>
            <a:br/>
            <a:r>
              <a:t>damping scale: [0.25, 256]</a:t>
            </a:r>
            <a:br/>
            <a:r>
              <a:t>effectiveness: [0.3, 1.0]</a:t>
            </a:r>
            <a:br/>
            <a:r>
              <a:t>mass scale: [1, 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3657600"/>
            <a:ext cx="315468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Friction and damping remain feasible across very wide ranges.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Actuator effectiveness has a lower feasible boundary near 0.3.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Mass is the sharpest feasibility boundary: below 1× becomes infeasible; 4× remains feasible.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The sweep is one-dimensional per parameter, so it does not establish the full joint feasible volume.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12. Shifted-DR robustness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Evaluation distributions are inside / outside the RAPP envelope; policies were not trained on these variations.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58521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Physics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DR-train distribution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Shifted / unseen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0–0.25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0.25–0.50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Damping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0.5–4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Effectiveness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0.5–1.0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0.3–0.5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Mass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1.0–1.5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1.5–2.5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95160" y="1417320"/>
            <a:ext cx="3657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Experimental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920240"/>
            <a:ext cx="4206240" cy="2468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DR-train ranges sit inside C_RAPP.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Shifted ranges are harder on every axis and overlap the harder edge of C_RAPP.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Both vanilla and Eureka checkpoints were evaluated without retraining.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Metrics include thresholded success, mean/median error, velocity, effort, settling time and overshoot.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4800600"/>
            <a:ext cx="411480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Purpose: separate in-distribution robustness from generalization to a shifted physics distribution.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13. Shifted-DR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Evaluation-time physics shift changes both success and control behavior.</a:t>
            </a:r>
          </a:p>
        </p:txBody>
      </p:sp>
      <p:pic>
        <p:nvPicPr>
          <p:cNvPr id="4" name="Picture 3" descr="dr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995160" cy="373075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43800" y="1325880"/>
          <a:ext cx="41605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&lt;5 cm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&lt;2 cm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 error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Settling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Vanilla DR-train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108.8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1.70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Vanilla DR-shift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80.69%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194.8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3.28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Eureka DR-train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97.88%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45.9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1.52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Eureka DR-shift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91.14%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42.36%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107.0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2.53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5212080"/>
            <a:ext cx="14630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Observed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5138928"/>
            <a:ext cx="27432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The shifted distribution increases terminal error and settling time for both policies. The finer-threshold metrics remain distinct from the 5 cm success statistic.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14. Physics-performance map: what the data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The current map reports P(d &lt; 1 cm) in 8 bins for selected physics dimensions.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Current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50292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rPr dirty="0"/>
              <a:t>• M(ξ) = </a:t>
            </a:r>
            <a:r>
              <a:rPr dirty="0" err="1"/>
              <a:t>P₁cm</a:t>
            </a:r>
            <a:r>
              <a:rPr dirty="0"/>
              <a:t>(ξ ∈ bin), with sample counts per bin.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rPr dirty="0"/>
              <a:t>• Currently embedded for friction_j1 and effectiveness_j1 in DR evaluation JSONs.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rPr dirty="0"/>
              <a:t>• Full roadmap vector — [</a:t>
            </a:r>
            <a:r>
              <a:rPr dirty="0" err="1"/>
              <a:t>P₅cm</a:t>
            </a:r>
            <a:r>
              <a:rPr dirty="0"/>
              <a:t>, </a:t>
            </a:r>
            <a:r>
              <a:rPr dirty="0" err="1"/>
              <a:t>P₂cm</a:t>
            </a:r>
            <a:r>
              <a:rPr dirty="0"/>
              <a:t>, </a:t>
            </a:r>
            <a:r>
              <a:rPr dirty="0" err="1"/>
              <a:t>P₁cm</a:t>
            </a:r>
            <a:r>
              <a:rPr dirty="0"/>
              <a:t>, </a:t>
            </a:r>
            <a:r>
              <a:rPr dirty="0" err="1"/>
              <a:t>E_d</a:t>
            </a:r>
            <a:r>
              <a:rPr dirty="0"/>
              <a:t>, </a:t>
            </a:r>
            <a:r>
              <a:rPr dirty="0" err="1"/>
              <a:t>E_q</a:t>
            </a:r>
            <a:r>
              <a:rPr dirty="0"/>
              <a:t>̇, E_τ, </a:t>
            </a:r>
            <a:r>
              <a:rPr dirty="0" err="1"/>
              <a:t>T_settle</a:t>
            </a:r>
            <a:r>
              <a:rPr dirty="0"/>
              <a:t>] — is not yet implemented.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12464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 dirty="0">
                <a:solidFill>
                  <a:srgbClr val="000000"/>
                </a:solidFill>
                <a:latin typeface="Arial"/>
              </a:rPr>
              <a:t>Research implication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0"/>
            <a:ext cx="5029200" cy="1325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RAPP suggests large flat regions for friction/damping.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Mass has the clearest sharp feasibility boundary.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Adaptive DR should therefore be driven by measured sensitivity, not by blindly maximizing uncertainty.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48056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023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Arial"/>
              </a:rPr>
              <a:t>Conceptual sensitivity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2240280"/>
            <a:ext cx="502920" cy="438912"/>
          </a:xfrm>
          <a:prstGeom prst="rect">
            <a:avLst/>
          </a:prstGeom>
          <a:solidFill>
            <a:srgbClr val="F5F5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79208" y="2240280"/>
            <a:ext cx="502920" cy="438912"/>
          </a:xfrm>
          <a:prstGeom prst="rect">
            <a:avLst/>
          </a:prstGeom>
          <a:solidFill>
            <a:srgbClr val="F0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46136" y="2240280"/>
            <a:ext cx="502920" cy="438912"/>
          </a:xfrm>
          <a:prstGeom prst="rect">
            <a:avLst/>
          </a:prstGeom>
          <a:solidFill>
            <a:srgbClr val="EBE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13064" y="2240280"/>
            <a:ext cx="502920" cy="438912"/>
          </a:xfrm>
          <a:prstGeom prst="rect">
            <a:avLst/>
          </a:prstGeom>
          <a:solidFill>
            <a:srgbClr val="E6E6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79992" y="2240280"/>
            <a:ext cx="502920" cy="438912"/>
          </a:xfrm>
          <a:prstGeom prst="rect">
            <a:avLst/>
          </a:prstGeom>
          <a:solidFill>
            <a:srgbClr val="E1E1E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46920" y="2240280"/>
            <a:ext cx="502920" cy="438912"/>
          </a:xfrm>
          <a:prstGeom prst="rect">
            <a:avLst/>
          </a:prstGeom>
          <a:solidFill>
            <a:srgbClr val="DCDC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12280" y="2743200"/>
            <a:ext cx="502920" cy="438912"/>
          </a:xfrm>
          <a:prstGeom prst="rect">
            <a:avLst/>
          </a:prstGeom>
          <a:solidFill>
            <a:srgbClr val="D7D7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9208" y="2743200"/>
            <a:ext cx="502920" cy="438912"/>
          </a:xfrm>
          <a:prstGeom prst="rect">
            <a:avLst/>
          </a:prstGeom>
          <a:solidFill>
            <a:srgbClr val="D2D2D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46136" y="2743200"/>
            <a:ext cx="502920" cy="438912"/>
          </a:xfrm>
          <a:prstGeom prst="rect">
            <a:avLst/>
          </a:prstGeom>
          <a:solidFill>
            <a:srgbClr val="CDCDC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13064" y="2743200"/>
            <a:ext cx="502920" cy="438912"/>
          </a:xfrm>
          <a:prstGeom prst="rect">
            <a:avLst/>
          </a:prstGeom>
          <a:solidFill>
            <a:srgbClr val="C8C8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79992" y="2743200"/>
            <a:ext cx="502920" cy="438912"/>
          </a:xfrm>
          <a:prstGeom prst="rect">
            <a:avLst/>
          </a:prstGeom>
          <a:solidFill>
            <a:srgbClr val="C3C3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46920" y="2743200"/>
            <a:ext cx="502920" cy="438912"/>
          </a:xfrm>
          <a:prstGeom prst="rect">
            <a:avLst/>
          </a:prstGeom>
          <a:solidFill>
            <a:srgbClr val="BEB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12280" y="3246120"/>
            <a:ext cx="502920" cy="438912"/>
          </a:xfrm>
          <a:prstGeom prst="rect">
            <a:avLst/>
          </a:prstGeom>
          <a:solidFill>
            <a:srgbClr val="B9B9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79208" y="3246120"/>
            <a:ext cx="502920" cy="438912"/>
          </a:xfrm>
          <a:prstGeom prst="rect">
            <a:avLst/>
          </a:prstGeom>
          <a:solidFill>
            <a:srgbClr val="B4B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46136" y="3246120"/>
            <a:ext cx="502920" cy="438912"/>
          </a:xfrm>
          <a:prstGeom prst="rect">
            <a:avLst/>
          </a:prstGeom>
          <a:solidFill>
            <a:srgbClr val="AFAFA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13064" y="3246120"/>
            <a:ext cx="502920" cy="438912"/>
          </a:xfrm>
          <a:prstGeom prst="rect">
            <a:avLst/>
          </a:prstGeom>
          <a:solidFill>
            <a:srgbClr val="AAAA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79992" y="3246120"/>
            <a:ext cx="502920" cy="438912"/>
          </a:xfrm>
          <a:prstGeom prst="rect">
            <a:avLst/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46920" y="3246120"/>
            <a:ext cx="502920" cy="438912"/>
          </a:xfrm>
          <a:prstGeom prst="rect">
            <a:avLst/>
          </a:prstGeom>
          <a:solidFill>
            <a:srgbClr val="A0A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12280" y="3749040"/>
            <a:ext cx="502920" cy="438912"/>
          </a:xfrm>
          <a:prstGeom prst="rect">
            <a:avLst/>
          </a:prstGeom>
          <a:solidFill>
            <a:srgbClr val="9B9B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79208" y="3749040"/>
            <a:ext cx="502920" cy="438912"/>
          </a:xfrm>
          <a:prstGeom prst="rect">
            <a:avLst/>
          </a:prstGeom>
          <a:solidFill>
            <a:srgbClr val="9696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46136" y="3749040"/>
            <a:ext cx="502920" cy="438912"/>
          </a:xfrm>
          <a:prstGeom prst="rect">
            <a:avLst/>
          </a:prstGeom>
          <a:solidFill>
            <a:srgbClr val="9191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13064" y="3749040"/>
            <a:ext cx="502920" cy="438912"/>
          </a:xfrm>
          <a:prstGeom prst="rect">
            <a:avLst/>
          </a:prstGeom>
          <a:solidFill>
            <a:srgbClr val="8C8C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79992" y="3749040"/>
            <a:ext cx="502920" cy="438912"/>
          </a:xfrm>
          <a:prstGeom prst="rect">
            <a:avLst/>
          </a:prstGeom>
          <a:solidFill>
            <a:srgbClr val="8787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46920" y="3749040"/>
            <a:ext cx="502920" cy="438912"/>
          </a:xfrm>
          <a:prstGeom prst="rect">
            <a:avLst/>
          </a:prstGeom>
          <a:solidFill>
            <a:srgbClr val="8282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12280" y="4251960"/>
            <a:ext cx="502920" cy="438912"/>
          </a:xfrm>
          <a:prstGeom prst="rect">
            <a:avLst/>
          </a:prstGeom>
          <a:solidFill>
            <a:srgbClr val="7D7D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79208" y="4251960"/>
            <a:ext cx="502920" cy="438912"/>
          </a:xfrm>
          <a:prstGeom prst="rect">
            <a:avLst/>
          </a:prstGeom>
          <a:solidFill>
            <a:srgbClr val="787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46136" y="4251960"/>
            <a:ext cx="502920" cy="438912"/>
          </a:xfrm>
          <a:prstGeom prst="rect">
            <a:avLst/>
          </a:prstGeom>
          <a:solidFill>
            <a:srgbClr val="73737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513064" y="4251960"/>
            <a:ext cx="502920" cy="438912"/>
          </a:xfrm>
          <a:prstGeom prst="rect">
            <a:avLst/>
          </a:prstGeom>
          <a:solidFill>
            <a:srgbClr val="6E6E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79992" y="4251960"/>
            <a:ext cx="502920" cy="438912"/>
          </a:xfrm>
          <a:prstGeom prst="rect">
            <a:avLst/>
          </a:prstGeom>
          <a:solidFill>
            <a:srgbClr val="6969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646920" y="4251960"/>
            <a:ext cx="502920" cy="438912"/>
          </a:xfrm>
          <a:prstGeom prst="rect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66560" y="4892040"/>
            <a:ext cx="1188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Arial"/>
              </a:rPr>
              <a:t>flat region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892040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Arial"/>
              </a:rPr>
              <a:t>sharp 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623560"/>
            <a:ext cx="4251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Arial"/>
              </a:rPr>
              <a:t>Not a new measurement — schematic of how the measured RAPP map can guide future sampling.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15. PINN / physics observer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Stage-2 adds explicit physics inference from short transition windows.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64 transitions</a:t>
            </a:r>
            <a:br/>
            <a:r>
              <a:t>(q,q̇,τ,q̈)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31720" y="2240280"/>
            <a:ext cx="411480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8288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Per-transition</a:t>
            </a:r>
            <a:br/>
            <a:r>
              <a:t>8→256→256→128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240280"/>
            <a:ext cx="411480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83480" y="18288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Mean + max</a:t>
            </a:r>
            <a:br/>
            <a:r>
              <a:t>pooling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2280" y="2240280"/>
            <a:ext cx="411480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23760" y="18288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256-D</a:t>
            </a:r>
            <a:br/>
            <a:r>
              <a:t>representation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0" y="2240280"/>
            <a:ext cx="411480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464040" y="18288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MLP → ξ̂,</a:t>
            </a:r>
            <a:br/>
            <a:r>
              <a:t>log σ²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657600"/>
            <a:ext cx="29260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Ensemble K = 5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715000" y="2651760"/>
            <a:ext cx="365760" cy="100584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2651760"/>
            <a:ext cx="411480" cy="100584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846320"/>
            <a:ext cx="2011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Output physics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800600"/>
            <a:ext cx="3931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Times New Roman"/>
              </a:rPr>
              <a:t>ξ̂ = [m₁,m₂,f₁,f₂,b₁,b₂,α₁,α₂]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846320"/>
            <a:ext cx="1188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800600"/>
            <a:ext cx="292608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Σ_epistemic = variance across ensemble members (diagonal only).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1498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A5A5A"/>
                </a:solidFill>
                <a:latin typeface="Arial"/>
              </a:rPr>
              <a:t>Important: the observer is a set encoder, not a sequence model; transitions are pooled because the dynamics model is instantaneous.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16. PINN loss and measured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Physics consistency is included explicitly, but current uncertainty is not yet reliable enough for adaptive DR.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914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1206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L = 1.0 L_data + 0.01 L_phys + 1.0 L_sup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5120640" cy="1554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L_data: acceleration prediction fit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L_phys: EOM residual Mq̈ + C + F − ατ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L_sup: heteroscedastic NLL against ground-truth ξ</a:t>
            </a:r>
          </a:p>
        </p:txBody>
      </p:sp>
      <p:pic>
        <p:nvPicPr>
          <p:cNvPr id="7" name="Picture 6" descr="pi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143000"/>
            <a:ext cx="5303520" cy="29949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4892040"/>
            <a:ext cx="1097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800600"/>
            <a:ext cx="384048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Interpolation: acceleration RMSE 2.79 rad/s²; normalised parameter error 0.0648.</a:t>
            </a:r>
            <a:br/>
            <a:r>
              <a:t>Extrapolation: 12.28 rad/s²; 0.2088.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498348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Uncertainty rank correlation with actual parameter error: +0.114 (interpolation), +0.097 (extrapolation) → nearly uninformative.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17. Validation, reproducibility and implementation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The Stage-2 work added explicit checks that caught environment and data defects.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Environment FK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216152"/>
            <a:ext cx="81381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analytic FK vs simulator EE: max error 0.000 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47672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Reward equivalence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29384"/>
            <a:ext cx="81381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vanilla/Eureka code matches equations: max deviation 0.00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60904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DR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42616"/>
            <a:ext cx="81381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per-environment physics reaches simulator; friction std 0.059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74136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Actuator effectiveness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355848"/>
            <a:ext cx="81381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coupled-dynamics test: 3.99% mean relative deviation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87368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Dynamics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069080"/>
            <a:ext cx="81381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analytic vs simulator acceleration: 2.27% mean relative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00600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Inverse 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782312"/>
            <a:ext cx="81381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recovered torque mean absolute error: 0.036 Nm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2560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Critical defect fixes documented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559552"/>
            <a:ext cx="7863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Mass-write-skip bug fixed; joint-limit trap identified; PINN label handling corrected; damping override checked.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18. What is established vs. what remains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Today's review separates demonstrated results from future research claims.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1208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663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"/>
              </a:rPr>
              <a:t>Established in Stage 1 + Stage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0" cy="3337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Controlled human-vs-Eureka reward experiment.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Exact reward-induced precision tradeoff documented.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IK+PD reference proves mm-scale reachability when limits are corrected.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RAPP feasibility envelope measured for four physics dimensions.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Shifted-DR robustness evaluation completed for both checkpoints.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PINN physics observer implemented, trained and quantitatively evaluated.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Validation scripts provide reproducible checks for key environment assumptions.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21208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508760"/>
            <a:ext cx="4663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"/>
              </a:rPr>
              <a:t>Open /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57400"/>
            <a:ext cx="4572000" cy="3337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Do not build adaptive DR until sensitivity / identifiability are better understood.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Improve physics identifiability: m and actuator effectiveness can be confounded.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Consider richer excitation regimes and/or non-diagonal uncertainty.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Extend the physics-performance map to the full metric vector.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Train PPO with DR and test sim-to-real robustness.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Use PINN-informed adaptation only after uncertainty becomes decision-useful.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Future: physics-informed sim-to-real transfer to physical hardware.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19. Reproduction baseline beyond the 2-DOF 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LEAP Hand track B establishes a separate rung-1 reference from the supplied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0116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000000"/>
                </a:solidFill>
                <a:latin typeface="Arial"/>
              </a:rPr>
              <a:t>LEAP_500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4572000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Arial"/>
              </a:rPr>
              <a:t>Isaac-Reorient-Cube-Leap</a:t>
            </a:r>
            <a:br/>
            <a:r>
              <a:t>500 PPO iterations • 4,096 train envs • 512 eval envs</a:t>
            </a:r>
            <a:br/>
            <a:r>
              <a:t>600 control steps • 20 s / env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4805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≈ 7.52 rotations / 20 s /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92040"/>
            <a:ext cx="411480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rial"/>
              </a:rPr>
              <a:t>Mean joint velocity: 1.86 rad/s</a:t>
            </a:r>
            <a:br/>
            <a:r>
              <a:t>Mean control effort / joint: 0.696</a:t>
            </a:r>
            <a:br/>
            <a:r>
              <a:t>Mean |action|: 0.776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1645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572000" cy="2194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This is a stock upstream-config reproduction baseline.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No adaptive DR and no PINN were used in this track.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The documented number is a benchmark rung to exceed in future domain-randomized / physics-informed experiments.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92040"/>
            <a:ext cx="457200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Arial"/>
              </a:rPr>
              <a:t>Source environment: LEAP Hand Isaac Lab track B result file supplied in the Stage-2 compilation.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20. Final research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rial"/>
              </a:rPr>
              <a:t>A staged path from reward engineering → robustness → physics inference → sim-to-real.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02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124712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Reward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124712"/>
            <a:ext cx="7315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Precision-aware objective / better task specification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41832" y="1554480"/>
            <a:ext cx="0" cy="3657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1920240"/>
            <a:ext cx="502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01952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RAPP +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901952"/>
            <a:ext cx="7315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Map feasible physics and identify sharp dimensions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" y="2331720"/>
            <a:ext cx="0" cy="3657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2697480"/>
            <a:ext cx="502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79192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PINN observer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79192"/>
            <a:ext cx="7315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Estimate ξ and calibrate useful uncertainty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1832" y="3108960"/>
            <a:ext cx="0" cy="3657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3474720"/>
            <a:ext cx="502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56432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Training-time 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456432"/>
            <a:ext cx="7315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Expose PPO to controlled physics variation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" y="3886200"/>
            <a:ext cx="0" cy="36575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4251960"/>
            <a:ext cx="502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33672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Adaptive DR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233672"/>
            <a:ext cx="7315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Sample toward measured sensitivity / uncertainty only when justified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1832" y="4663440"/>
            <a:ext cx="0" cy="3657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" y="5029200"/>
            <a:ext cx="502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010912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Sim-to-real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7315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Validate on physical arm; close the reality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2194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Core scientific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943600"/>
            <a:ext cx="7955279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Keep the causal chain explicit: reward → policy behavior → physics sensitivity → robustness → transfer.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0352" y="6556248"/>
            <a:ext cx="6400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rial"/>
              </a:rPr>
              <a:t>Project Review II  |  2-DOF Planar Robotic Reaching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A5A5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2702</Words>
  <Application>Microsoft Office PowerPoint</Application>
  <PresentationFormat>Widescreen</PresentationFormat>
  <Paragraphs>373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Amartya Ranjan</cp:lastModifiedBy>
  <cp:revision>3</cp:revision>
  <dcterms:created xsi:type="dcterms:W3CDTF">2013-01-27T09:14:16Z</dcterms:created>
  <dcterms:modified xsi:type="dcterms:W3CDTF">2026-09-16T07:37:54Z</dcterms:modified>
  <cp:category/>
</cp:coreProperties>
</file>